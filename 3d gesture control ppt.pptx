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9" r:id="rId2"/>
    <p:sldId id="280" r:id="rId3"/>
    <p:sldId id="303" r:id="rId4"/>
    <p:sldId id="281" r:id="rId5"/>
    <p:sldId id="288" r:id="rId6"/>
    <p:sldId id="287" r:id="rId7"/>
    <p:sldId id="274" r:id="rId8"/>
    <p:sldId id="289" r:id="rId9"/>
    <p:sldId id="292" r:id="rId10"/>
    <p:sldId id="293" r:id="rId11"/>
    <p:sldId id="294" r:id="rId12"/>
    <p:sldId id="300" r:id="rId13"/>
    <p:sldId id="298" r:id="rId14"/>
    <p:sldId id="301" r:id="rId15"/>
    <p:sldId id="29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38C0DFA-93DF-4D10-A351-D1AAD23B1E34}">
          <p14:sldIdLst>
            <p14:sldId id="279"/>
            <p14:sldId id="280"/>
            <p14:sldId id="303"/>
            <p14:sldId id="281"/>
            <p14:sldId id="288"/>
            <p14:sldId id="287"/>
            <p14:sldId id="274"/>
            <p14:sldId id="289"/>
            <p14:sldId id="292"/>
            <p14:sldId id="293"/>
            <p14:sldId id="294"/>
            <p14:sldId id="300"/>
            <p14:sldId id="298"/>
            <p14:sldId id="301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B8FA1-ECF1-4EE1-AFE6-FCCF7ACCCF6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07203-EAC4-4CA9-82A2-A4E076F9BDC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8" y="0"/>
            <a:ext cx="1587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34F89-7F31-438B-B49B-A54437B46C1D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9C159-9A0A-43CA-8940-911B3660949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 1"/>
          <p:cNvSpPr txBox="1"/>
          <p:nvPr/>
        </p:nvSpPr>
        <p:spPr>
          <a:xfrm>
            <a:off x="668696" y="2704601"/>
            <a:ext cx="10363200" cy="840321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935" b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Control Using 3D Gesture Recognition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8060457" y="3767452"/>
            <a:ext cx="57960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>
              <a:defRPr/>
            </a:pPr>
            <a:endParaRPr lang="en-US" sz="2400" b="1" u="sng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1219200">
              <a:defRPr/>
            </a:pPr>
            <a:endParaRPr lang="en-US" sz="2400" dirty="0">
              <a:solidFill>
                <a:srgbClr val="44546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602" y="877682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sz="3600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666" y="2203245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5DF4-7542-7357-7AEC-ECDD052E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3653E-52F9-7233-A6DE-EEB3035F2264}"/>
              </a:ext>
            </a:extLst>
          </p:cNvPr>
          <p:cNvSpPr txBox="1"/>
          <p:nvPr/>
        </p:nvSpPr>
        <p:spPr>
          <a:xfrm>
            <a:off x="3431458" y="584663"/>
            <a:ext cx="5329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BA6E4-2664-137C-A14E-4E45DFD1451C}"/>
              </a:ext>
            </a:extLst>
          </p:cNvPr>
          <p:cNvSpPr txBox="1"/>
          <p:nvPr/>
        </p:nvSpPr>
        <p:spPr>
          <a:xfrm>
            <a:off x="737419" y="1828801"/>
            <a:ext cx="9350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applications based on  gesture images using a camera, perform background removal and extract hand gesture using segmentation, extract features using PCA (Eigen values &amp; vectors)</a:t>
            </a:r>
          </a:p>
        </p:txBody>
      </p:sp>
    </p:spTree>
    <p:extLst>
      <p:ext uri="{BB962C8B-B14F-4D97-AF65-F5344CB8AC3E}">
        <p14:creationId xmlns:p14="http://schemas.microsoft.com/office/powerpoint/2010/main" val="177291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2709" y="215913"/>
            <a:ext cx="9492342" cy="783191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87" y="1560154"/>
            <a:ext cx="10515600" cy="4798459"/>
          </a:xfrm>
        </p:spPr>
        <p:txBody>
          <a:bodyPr>
            <a:noAutofit/>
          </a:bodyPr>
          <a:lstStyle/>
          <a:p>
            <a:pPr>
              <a:buClr>
                <a:schemeClr val="accent2"/>
              </a:buClr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Gesture recognition enables humans to interact with computers using     natural hand movements.</a:t>
            </a:r>
          </a:p>
          <a:p>
            <a:pPr>
              <a:buClr>
                <a:schemeClr val="accent2"/>
              </a:buClr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input devices like keyboard and mouse are not always convenient or accessible.</a:t>
            </a:r>
          </a:p>
          <a:p>
            <a:pPr>
              <a:buClr>
                <a:schemeClr val="accent2"/>
              </a:buClr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focuses on recognizing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gestures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Human–  Computer Interaction (HCI).</a:t>
            </a:r>
          </a:p>
          <a:p>
            <a:pPr>
              <a:buClr>
                <a:schemeClr val="accent2"/>
              </a:buClr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gestures are used to control computer applications.</a:t>
            </a:r>
          </a:p>
          <a:p>
            <a:pPr>
              <a:buClr>
                <a:schemeClr val="accent2"/>
              </a:buClr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image processing and pattern recognition techniques for accurate results.</a:t>
            </a:r>
          </a:p>
          <a:p>
            <a:pPr>
              <a:buClr>
                <a:schemeClr val="accent2"/>
              </a:buClr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2"/>
              </a:buClr>
            </a:pPr>
            <a:endParaRPr lang="en-IN" sz="2600" b="1" dirty="0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712450" y="2616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8699"/>
            <a:ext cx="10515600" cy="857619"/>
          </a:xfrm>
        </p:spPr>
        <p:txBody>
          <a:bodyPr/>
          <a:lstStyle/>
          <a:p>
            <a:pPr algn="ctr"/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6404" y="1148314"/>
            <a:ext cx="9090835" cy="653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Acquiring 3D gesture as input through a camera or from a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57685" y="2167879"/>
            <a:ext cx="9090837" cy="659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the image of gesture bringing it to a standard resolution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46406" y="3171499"/>
            <a:ext cx="9090836" cy="653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the image by removing background HSV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YbCr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threshold algorithms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57686" y="4137948"/>
            <a:ext cx="9090836" cy="653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covariance matrices, Eigen values and Eigen Vectors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405" y="5104397"/>
            <a:ext cx="9102117" cy="6706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685" y="6008683"/>
            <a:ext cx="9102117" cy="670618"/>
          </a:xfrm>
          <a:prstGeom prst="rect">
            <a:avLst/>
          </a:prstGeom>
        </p:spPr>
      </p:pic>
      <p:sp>
        <p:nvSpPr>
          <p:cNvPr id="10" name="Arrow: Down 9"/>
          <p:cNvSpPr/>
          <p:nvPr/>
        </p:nvSpPr>
        <p:spPr>
          <a:xfrm>
            <a:off x="6258714" y="1812847"/>
            <a:ext cx="477495" cy="3444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354" y="2816403"/>
            <a:ext cx="524301" cy="3657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354" y="3772156"/>
            <a:ext cx="524301" cy="3657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661" y="4785591"/>
            <a:ext cx="524301" cy="3657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312" y="5775015"/>
            <a:ext cx="524301" cy="3657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08814" y="5230816"/>
            <a:ext cx="8377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 identification by comparison of the projected test and train image matrices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52668" y="6159326"/>
            <a:ext cx="703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Giving text output and executing respective application as per gesture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181" y="-140534"/>
            <a:ext cx="4376057" cy="15289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8109" y="1850571"/>
            <a:ext cx="92124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Tools: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Tools: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or Laptop Camera</a:t>
            </a:r>
          </a:p>
          <a:p>
            <a:pPr marL="457200" indent="-4572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(Windows/Linux)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B3D32-6980-725C-92A6-1E5365835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7108369"/>
            <a:ext cx="10178143" cy="118654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IN" sz="2400">
                <a:latin typeface="Arial Black" panose="020B0A04020102020204" pitchFamily="34" charset="0"/>
              </a:rPr>
              <a:t>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1625" y="3987165"/>
            <a:ext cx="4807585" cy="977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5855335" y="4777105"/>
            <a:ext cx="880110" cy="5257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12407" t="39148" r="206" b="24935"/>
          <a:stretch>
            <a:fillRect/>
          </a:stretch>
        </p:blipFill>
        <p:spPr>
          <a:xfrm>
            <a:off x="3083560" y="3987165"/>
            <a:ext cx="2091690" cy="191071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035685" y="1433830"/>
            <a:ext cx="10519410" cy="171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algn="just"/>
            <a:r>
              <a:rPr lang="en-US" altLang="en-US" sz="2400" dirty="0"/>
              <a:t>Load a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folders from the training directory (Train).Extract numerical labels from folder names. </a:t>
            </a:r>
            <a:r>
              <a:rPr lang="en-US" altLang="en-US" sz="2600" dirty="0"/>
              <a:t>Read each image from every folder.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 to a fixed dimension. Converted images to grayscale.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3083560" y="60325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Input image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455" y="3987165"/>
            <a:ext cx="2635885" cy="2203450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7033260" y="60325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preprocessed image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3519170" y="502285"/>
            <a:ext cx="5274945" cy="930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D0BC3D-750D-3CAD-5C3A-B9857E901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738505" y="1346835"/>
            <a:ext cx="10714355" cy="1989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image to binary, remove noise, refine using morphological operations. Extract largest component as hand region. Apply shadow removal and mask cleaning. Used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YCbCr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HSV for accurate skin detection. Obtained final segmented hand image</a:t>
            </a: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920" y="3107690"/>
            <a:ext cx="4334510" cy="3509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TEST RESULT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27375" r="-551" b="20896"/>
          <a:stretch>
            <a:fillRect/>
          </a:stretch>
        </p:blipFill>
        <p:spPr>
          <a:xfrm>
            <a:off x="243840" y="2467610"/>
            <a:ext cx="2197100" cy="25126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910" y="1471295"/>
            <a:ext cx="8304530" cy="4671695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2559050" y="3508375"/>
            <a:ext cx="742950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667" t="35991" r="1687" b="20685"/>
          <a:stretch>
            <a:fillRect/>
          </a:stretch>
        </p:blipFill>
        <p:spPr>
          <a:xfrm>
            <a:off x="216535" y="2183130"/>
            <a:ext cx="2809875" cy="27997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305" y="1176020"/>
            <a:ext cx="8252460" cy="487045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3049270" y="3348990"/>
            <a:ext cx="765810" cy="525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4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Enables touch-free interaction, improving hygiene</a:t>
            </a:r>
          </a:p>
          <a:p>
            <a:r>
              <a:rPr lang="en-US" altLang="en-US" dirty="0"/>
              <a:t>Provides natural and intuitive control using hand gestures</a:t>
            </a:r>
          </a:p>
          <a:p>
            <a:r>
              <a:rPr lang="en-US" altLang="en-US" dirty="0"/>
              <a:t>Useful for physically challenged users</a:t>
            </a:r>
          </a:p>
          <a:p>
            <a:r>
              <a:rPr lang="en-US" altLang="en-US" dirty="0"/>
              <a:t>Reduces dependency on keyboard and mouse</a:t>
            </a:r>
          </a:p>
          <a:p>
            <a:r>
              <a:rPr lang="en-US" altLang="en-US" dirty="0"/>
              <a:t>Enhances user experience and accessibility</a:t>
            </a:r>
          </a:p>
          <a:p>
            <a:r>
              <a:rPr lang="en-US" altLang="en-US" dirty="0"/>
              <a:t>Works in real-time with quick response</a:t>
            </a:r>
          </a:p>
          <a:p>
            <a:r>
              <a:rPr lang="en-US" altLang="en-US" dirty="0"/>
              <a:t>Can be integrated with multiple applications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59435" y="734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409678-9AF8-0D5B-2C40-E12344E7753C}"/>
              </a:ext>
            </a:extLst>
          </p:cNvPr>
          <p:cNvSpPr txBox="1"/>
          <p:nvPr/>
        </p:nvSpPr>
        <p:spPr>
          <a:xfrm>
            <a:off x="4296697" y="663787"/>
            <a:ext cx="4257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31C25-43D0-0987-8B44-4E2150DD9223}"/>
              </a:ext>
            </a:extLst>
          </p:cNvPr>
          <p:cNvSpPr txBox="1"/>
          <p:nvPr/>
        </p:nvSpPr>
        <p:spPr>
          <a:xfrm>
            <a:off x="934064" y="1917291"/>
            <a:ext cx="876054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Touchless PC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Touchless Medical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Gesture-Based Media Player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Gesture-Controlled Presentation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Technology for Disabled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In-Car Gesture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Gesture-Based Gaming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386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090" y="49974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      </a:t>
            </a:r>
            <a:br>
              <a:rPr lang="en-US" b="1" dirty="0"/>
            </a:br>
            <a:r>
              <a:rPr lang="en-US" b="1" dirty="0"/>
              <a:t>                     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system to recognize dynamic (motion-based) gestures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sign language recognition for communication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in AR/VR environments for immersive control</a:t>
            </a:r>
          </a:p>
          <a:p>
            <a:pPr marL="457200" lvl="1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32C29E-DC9D-46CB-CCA5-BA08AA5F88F1}"/>
              </a:ext>
            </a:extLst>
          </p:cNvPr>
          <p:cNvSpPr txBox="1"/>
          <p:nvPr/>
        </p:nvSpPr>
        <p:spPr>
          <a:xfrm>
            <a:off x="2635045" y="750979"/>
            <a:ext cx="8131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0AA96-05E6-2E42-68D0-729AE1F5878C}"/>
              </a:ext>
            </a:extLst>
          </p:cNvPr>
          <p:cNvSpPr txBox="1"/>
          <p:nvPr/>
        </p:nvSpPr>
        <p:spPr>
          <a:xfrm>
            <a:off x="825910" y="1573161"/>
            <a:ext cx="105303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[1] Reza Hassanpour, </a:t>
            </a:r>
            <a:r>
              <a:rPr lang="en-IN" dirty="0" err="1"/>
              <a:t>Asadollah</a:t>
            </a:r>
            <a:r>
              <a:rPr lang="en-IN" dirty="0"/>
              <a:t> </a:t>
            </a:r>
            <a:r>
              <a:rPr lang="en-IN" dirty="0" err="1"/>
              <a:t>Shahbahrami</a:t>
            </a:r>
            <a:r>
              <a:rPr lang="en-IN" dirty="0"/>
              <a:t>, ―Human Computer Interaction Using Vision-Based Hand Gesture Recognition‖, Journal of Advances in Computer Research, 2010.</a:t>
            </a:r>
          </a:p>
          <a:p>
            <a:r>
              <a:rPr lang="en-IN" dirty="0"/>
              <a:t> [2] Dharani Mazumdar, Anjan Kumar Talukdar &amp; Kandarpa Kumar Sarma , ―A coloured fingertip-based tracking method for continuous hand gesture recognition‖, International Journal of Electronics Signals and Systems (IJESS), ISSN: 2231- 5969, Vol 3, Iss-1, 2013. </a:t>
            </a:r>
          </a:p>
          <a:p>
            <a:r>
              <a:rPr lang="en-IN" dirty="0"/>
              <a:t>[3] Hazem Khaled, S. Sayed, El Sayed Mostafa ,Hossam Ali , ―Hand Gesture Recognition Using Average Background and Logical Heuristic Equations‖, International Journal Of Computers &amp; Technology, ISSN 2277-3061, Vol. 11 No. 5, 2013. </a:t>
            </a:r>
          </a:p>
          <a:p>
            <a:r>
              <a:rPr lang="en-IN" dirty="0"/>
              <a:t>[4] Joyeeta Singha, Karen Das, ―Indian Sign Language Recognition Using Eigen Value Weighted Euclidean Distance Based Classification Technique‖, International Journal of Advanced Computer Science and Applications, Vol. 4, No. 2, 2013. </a:t>
            </a:r>
          </a:p>
          <a:p>
            <a:r>
              <a:rPr lang="en-IN" dirty="0"/>
              <a:t>[5] Ashutosh </a:t>
            </a:r>
            <a:r>
              <a:rPr lang="en-IN" dirty="0" err="1"/>
              <a:t>Verule</a:t>
            </a:r>
            <a:r>
              <a:rPr lang="en-IN" dirty="0"/>
              <a:t>, Shrivardhan </a:t>
            </a:r>
            <a:r>
              <a:rPr lang="en-IN" dirty="0" err="1"/>
              <a:t>Suryawanshi</a:t>
            </a:r>
            <a:r>
              <a:rPr lang="en-IN" dirty="0"/>
              <a:t>, Poonam Rajput and Rajashri </a:t>
            </a:r>
            <a:r>
              <a:rPr lang="en-IN" dirty="0" err="1"/>
              <a:t>Itkarka</a:t>
            </a:r>
            <a:r>
              <a:rPr lang="en-IN" dirty="0"/>
              <a:t> , ― Application Control Using 3D Gesture Recognition </a:t>
            </a:r>
          </a:p>
        </p:txBody>
      </p:sp>
    </p:spTree>
    <p:extLst>
      <p:ext uri="{BB962C8B-B14F-4D97-AF65-F5344CB8AC3E}">
        <p14:creationId xmlns:p14="http://schemas.microsoft.com/office/powerpoint/2010/main" val="1628377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725" y="2073910"/>
            <a:ext cx="7204075" cy="2576830"/>
          </a:xfrm>
        </p:spPr>
        <p:txBody>
          <a:bodyPr/>
          <a:lstStyle/>
          <a:p>
            <a:r>
              <a:rPr lang="en-US" b="1"/>
              <a:t>THANK YOU</a:t>
            </a:r>
          </a:p>
        </p:txBody>
      </p:sp>
      <p:sp>
        <p:nvSpPr>
          <p:cNvPr id="5" name="Text Box 4"/>
          <p:cNvSpPr txBox="1"/>
          <p:nvPr/>
        </p:nvSpPr>
        <p:spPr>
          <a:xfrm flipV="1">
            <a:off x="6717665" y="563880"/>
            <a:ext cx="3641725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598</Words>
  <Application>Microsoft Office PowerPoint</Application>
  <PresentationFormat>Widescreen</PresentationFormat>
  <Paragraphs>72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CONTENTS </vt:lpstr>
      <vt:lpstr>PowerPoint Presentation</vt:lpstr>
      <vt:lpstr>INTRODUCTION</vt:lpstr>
      <vt:lpstr>METHODOLOGY</vt:lpstr>
      <vt:lpstr>TOOLS</vt:lpstr>
      <vt:lpstr>I</vt:lpstr>
      <vt:lpstr>PowerPoint Presentation</vt:lpstr>
      <vt:lpstr>   TEST RESULT</vt:lpstr>
      <vt:lpstr>PowerPoint Presentation</vt:lpstr>
      <vt:lpstr>      ADVANTAGES</vt:lpstr>
      <vt:lpstr>PowerPoint Presentation</vt:lpstr>
      <vt:lpstr>                                   FUTURE SCOPE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Vedic Multiplier Based Fractional Lorenz Chaotic Pseudo-Random Number Generator</dc:title>
  <dc:creator>megavath savithri</dc:creator>
  <cp:lastModifiedBy>Pavani Cheviti</cp:lastModifiedBy>
  <cp:revision>28</cp:revision>
  <cp:lastPrinted>2026-01-27T08:28:00Z</cp:lastPrinted>
  <dcterms:created xsi:type="dcterms:W3CDTF">2026-01-22T18:01:00Z</dcterms:created>
  <dcterms:modified xsi:type="dcterms:W3CDTF">2026-07-10T18:43:36Z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DF83D8373C3F45B2BCD2824F00F50D9B_13</vt:lpwstr>
  </property>
  <property fmtid="{D5CDD505-2E9C-101B-9397-08002B2CF9AE}" pid="3" name="KSOProductBuildVer">
    <vt:lpwstr>1033-12.2.0.23196</vt:lpwstr>
  </property>
</Properties>
</file>